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ascadia Code" panose="020B0609020000020004" pitchFamily="49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  <p:embeddedFont>
      <p:font typeface="Plus Jakarta Sans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9" d="100"/>
          <a:sy n="159" d="100"/>
        </p:scale>
        <p:origin x="26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43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23838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sp>
        <p:nvSpPr>
          <p:cNvPr id="3" name="Text 1"/>
          <p:cNvSpPr/>
          <p:nvPr/>
        </p:nvSpPr>
        <p:spPr>
          <a:xfrm>
            <a:off x="700088" y="1114425"/>
            <a:ext cx="493395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78"/>
              </a:lnSpc>
              <a:buNone/>
            </a:pPr>
            <a:r>
              <a:rPr lang="en-US" sz="5344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5344" dirty="0"/>
          </a:p>
        </p:txBody>
      </p:sp>
      <p:sp>
        <p:nvSpPr>
          <p:cNvPr id="4" name="Text 2"/>
          <p:cNvSpPr/>
          <p:nvPr/>
        </p:nvSpPr>
        <p:spPr>
          <a:xfrm>
            <a:off x="8329613" y="4781550"/>
            <a:ext cx="63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4"/>
              </a:lnSpc>
              <a:buNone/>
            </a:pPr>
            <a:r>
              <a:rPr lang="en-US" sz="1283" kern="0" spc="-2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Ryne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190500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sp>
        <p:nvSpPr>
          <p:cNvPr id="3" name="Text 1"/>
          <p:cNvSpPr/>
          <p:nvPr/>
        </p:nvSpPr>
        <p:spPr>
          <a:xfrm>
            <a:off x="3957638" y="1338263"/>
            <a:ext cx="4886325" cy="366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7431"/>
              </a:lnSpc>
              <a:buNone/>
            </a:pPr>
            <a:r>
              <a:rPr lang="en-US" sz="24938" kern="0" spc="-1247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24938" dirty="0"/>
          </a:p>
        </p:txBody>
      </p:sp>
      <p:sp>
        <p:nvSpPr>
          <p:cNvPr id="4" name="Text 2"/>
          <p:cNvSpPr/>
          <p:nvPr/>
        </p:nvSpPr>
        <p:spPr>
          <a:xfrm>
            <a:off x="461963" y="552450"/>
            <a:ext cx="5229225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78"/>
              </a:lnSpc>
              <a:buNone/>
            </a:pPr>
            <a:r>
              <a:rPr lang="en-US" sz="5344" b="1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Проблема </a:t>
            </a:r>
            <a:endParaRPr lang="en-US" sz="5344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l">
              <a:lnSpc>
                <a:spcPts val="5878"/>
              </a:lnSpc>
              <a:buNone/>
            </a:pPr>
            <a:r>
              <a:rPr lang="en-US" sz="5344" b="1" dirty="0">
                <a:solidFill>
                  <a:schemeClr val="bg2">
                    <a:lumMod val="75000"/>
                    <a:alpha val="99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и</a:t>
            </a:r>
            <a:r>
              <a:rPr lang="en-US" sz="5344" b="1" dirty="0">
                <a:solidFill>
                  <a:schemeClr val="tx1">
                    <a:lumMod val="50000"/>
                    <a:lumOff val="50000"/>
                    <a:alpha val="99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5344" b="1" dirty="0">
                <a:solidFill>
                  <a:schemeClr val="bg2">
                    <a:lumMod val="75000"/>
                    <a:alpha val="99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её</a:t>
            </a:r>
            <a:r>
              <a:rPr lang="en-US" sz="5344" b="1" dirty="0">
                <a:solidFill>
                  <a:schemeClr val="tx1">
                    <a:lumMod val="50000"/>
                    <a:lumOff val="50000"/>
                    <a:alpha val="99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5344" b="1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решение</a:t>
            </a:r>
            <a:endParaRPr lang="en-US" sz="5344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488" y="247650"/>
            <a:ext cx="8963025" cy="48148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0500" y="390525"/>
            <a:ext cx="2852738" cy="45100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43250" y="390525"/>
            <a:ext cx="2857500" cy="45100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00763" y="390525"/>
            <a:ext cx="2852738" cy="45100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7" name="Text 1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8" name="Text 2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sp>
        <p:nvSpPr>
          <p:cNvPr id="3" name="Text 1"/>
          <p:cNvSpPr/>
          <p:nvPr/>
        </p:nvSpPr>
        <p:spPr>
          <a:xfrm>
            <a:off x="3957638" y="1385888"/>
            <a:ext cx="4886325" cy="366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7431"/>
              </a:lnSpc>
              <a:buNone/>
            </a:pPr>
            <a:r>
              <a:rPr lang="en-US" sz="24938" kern="0" spc="-1247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24938" dirty="0"/>
          </a:p>
        </p:txBody>
      </p:sp>
      <p:sp>
        <p:nvSpPr>
          <p:cNvPr id="4" name="Text 2"/>
          <p:cNvSpPr/>
          <p:nvPr/>
        </p:nvSpPr>
        <p:spPr>
          <a:xfrm>
            <a:off x="290513" y="471488"/>
            <a:ext cx="59102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78"/>
              </a:lnSpc>
              <a:buNone/>
            </a:pPr>
            <a:r>
              <a:rPr lang="en-US" sz="5344" b="1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Сценарий</a:t>
            </a:r>
            <a:endParaRPr lang="en-US" sz="5344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l">
              <a:lnSpc>
                <a:spcPts val="5878"/>
              </a:lnSpc>
              <a:buNone/>
            </a:pPr>
            <a:r>
              <a:rPr lang="en-US" sz="5344" b="1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использования</a:t>
            </a:r>
            <a:endParaRPr lang="en-US" sz="5344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0500" y="519113"/>
            <a:ext cx="2605088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43"/>
              </a:lnSpc>
              <a:buNone/>
            </a:pPr>
            <a:r>
              <a:rPr lang="en-US" sz="2494" kern="0" spc="-55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Прототип нашего проекта</a:t>
            </a:r>
            <a:endParaRPr lang="en-US" sz="2494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57175" y="1419225"/>
            <a:ext cx="2052637" cy="4214813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10" name="Text 5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11" name="Text 6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31C3A9F7-0554-3F3D-7BE7-5412C585B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38"/>
          <a:stretch/>
        </p:blipFill>
        <p:spPr>
          <a:xfrm>
            <a:off x="2676525" y="566738"/>
            <a:ext cx="6376988" cy="4257675"/>
          </a:xfrm>
          <a:prstGeom prst="rect">
            <a:avLst/>
          </a:prstGeom>
        </p:spPr>
      </p:pic>
      <p:pic>
        <p:nvPicPr>
          <p:cNvPr id="13" name="Image 1">
            <a:extLst>
              <a:ext uri="{FF2B5EF4-FFF2-40B4-BE49-F238E27FC236}">
                <a16:creationId xmlns:a16="http://schemas.microsoft.com/office/drawing/2014/main" id="{6280A327-6C49-CAC9-DD50-FCA64B53A5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3844" y="1516857"/>
            <a:ext cx="2052637" cy="44386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-157162" y="5053013"/>
            <a:ext cx="2562225" cy="180498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2771775" cy="4814888"/>
          </a:xfrm>
          <a:prstGeom prst="roundRect">
            <a:avLst>
              <a:gd name="adj" fmla="val 4948"/>
            </a:avLst>
          </a:prstGeom>
          <a:solidFill>
            <a:srgbClr val="F5F1E9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" y="1819275"/>
            <a:ext cx="247173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22"/>
              </a:lnSpc>
              <a:buNone/>
            </a:pPr>
            <a:r>
              <a:rPr lang="en-US" sz="2565" kern="0" spc="-56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Архитектурная схема</a:t>
            </a:r>
            <a:endParaRPr lang="en-US" sz="2565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00375" y="233362"/>
            <a:ext cx="6053138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sp>
        <p:nvSpPr>
          <p:cNvPr id="5" name="Shape 3"/>
          <p:cNvSpPr/>
          <p:nvPr/>
        </p:nvSpPr>
        <p:spPr>
          <a:xfrm>
            <a:off x="3476625" y="233362"/>
            <a:ext cx="5119688" cy="4814888"/>
          </a:xfrm>
          <a:prstGeom prst="rect">
            <a:avLst/>
          </a:prstGeom>
          <a:noFill/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7783" y="433983"/>
            <a:ext cx="830568" cy="3501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2127" y="474107"/>
            <a:ext cx="51949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D3D1C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Школьник</a:t>
            </a:r>
            <a:endParaRPr lang="en-US" sz="499" dirty="0"/>
          </a:p>
        </p:txBody>
      </p:sp>
      <p:sp>
        <p:nvSpPr>
          <p:cNvPr id="8" name="Text 5"/>
          <p:cNvSpPr/>
          <p:nvPr/>
        </p:nvSpPr>
        <p:spPr>
          <a:xfrm>
            <a:off x="3958479" y="607854"/>
            <a:ext cx="46679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B4B2A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6–11 класс</a:t>
            </a:r>
            <a:endParaRPr lang="en-US" sz="42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4191" y="433983"/>
            <a:ext cx="830568" cy="350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77009" y="474107"/>
            <a:ext cx="66254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D3D1C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Организатор</a:t>
            </a:r>
            <a:endParaRPr lang="en-US" sz="499" dirty="0"/>
          </a:p>
        </p:txBody>
      </p:sp>
      <p:sp>
        <p:nvSpPr>
          <p:cNvPr id="11" name="Text 7"/>
          <p:cNvSpPr/>
          <p:nvPr/>
        </p:nvSpPr>
        <p:spPr>
          <a:xfrm>
            <a:off x="4858187" y="607854"/>
            <a:ext cx="70019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B4B2A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events</a:t>
            </a:r>
            <a:endParaRPr lang="en-US" sz="42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599" y="433983"/>
            <a:ext cx="830568" cy="3501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1524" y="474107"/>
            <a:ext cx="346332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D3D1C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</a:t>
            </a:r>
            <a:endParaRPr lang="en-US" sz="499" dirty="0"/>
          </a:p>
        </p:txBody>
      </p:sp>
      <p:sp>
        <p:nvSpPr>
          <p:cNvPr id="14" name="Text 9"/>
          <p:cNvSpPr/>
          <p:nvPr/>
        </p:nvSpPr>
        <p:spPr>
          <a:xfrm>
            <a:off x="5987528" y="607854"/>
            <a:ext cx="474324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B4B2A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control</a:t>
            </a:r>
            <a:endParaRPr lang="en-US" sz="427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r="99219"/>
          <a:stretch/>
        </p:blipFill>
        <p:spPr>
          <a:xfrm>
            <a:off x="4191874" y="781725"/>
            <a:ext cx="7144" cy="441365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r="99219"/>
          <a:stretch/>
        </p:blipFill>
        <p:spPr>
          <a:xfrm>
            <a:off x="5208282" y="781725"/>
            <a:ext cx="7144" cy="44136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rcRect r="99219"/>
          <a:stretch/>
        </p:blipFill>
        <p:spPr>
          <a:xfrm>
            <a:off x="6224694" y="781725"/>
            <a:ext cx="7144" cy="441365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02495" y="1223089"/>
            <a:ext cx="2938672" cy="60424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191874" y="1303338"/>
            <a:ext cx="195752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FAF9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· React 18 + TypeScript + Vite</a:t>
            </a:r>
            <a:endParaRPr lang="en-US" sz="499" dirty="0"/>
          </a:p>
        </p:txBody>
      </p:sp>
      <p:sp>
        <p:nvSpPr>
          <p:cNvPr id="20" name="Text 11"/>
          <p:cNvSpPr/>
          <p:nvPr/>
        </p:nvSpPr>
        <p:spPr>
          <a:xfrm>
            <a:off x="4621025" y="1437084"/>
            <a:ext cx="1099227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FSD-архитектура · :3000</a:t>
            </a:r>
            <a:endParaRPr lang="en-US" sz="427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22957" y="1584206"/>
            <a:ext cx="679986" cy="17625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011178" y="1590893"/>
            <a:ext cx="30115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Афиша</a:t>
            </a:r>
            <a:endParaRPr lang="en-US" sz="427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0910" y="1584206"/>
            <a:ext cx="679986" cy="17625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730195" y="1590893"/>
            <a:ext cx="399034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Профиль</a:t>
            </a:r>
            <a:endParaRPr lang="en-US" sz="427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58864" y="1584206"/>
            <a:ext cx="679986" cy="17625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411567" y="1590893"/>
            <a:ext cx="572200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Организатор</a:t>
            </a:r>
            <a:endParaRPr lang="en-US" sz="427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26817" y="1584206"/>
            <a:ext cx="424002" cy="17625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141876" y="1590893"/>
            <a:ext cx="39150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Админка</a:t>
            </a:r>
            <a:endParaRPr lang="en-US" sz="427" dirty="0"/>
          </a:p>
        </p:txBody>
      </p:sp>
      <p:sp>
        <p:nvSpPr>
          <p:cNvPr id="29" name="Text 16"/>
          <p:cNvSpPr/>
          <p:nvPr/>
        </p:nvSpPr>
        <p:spPr>
          <a:xfrm>
            <a:off x="4877009" y="1918573"/>
            <a:ext cx="58725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/api</a:t>
            </a:r>
            <a:endParaRPr lang="en-US" sz="427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702495" y="2105819"/>
            <a:ext cx="2938672" cy="604242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4124116" y="2186067"/>
            <a:ext cx="2093049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FAF9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· Node.js + Express + TypeScript</a:t>
            </a:r>
            <a:endParaRPr lang="en-US" sz="499" dirty="0"/>
          </a:p>
        </p:txBody>
      </p:sp>
      <p:sp>
        <p:nvSpPr>
          <p:cNvPr id="33" name="Text 18"/>
          <p:cNvSpPr/>
          <p:nvPr/>
        </p:nvSpPr>
        <p:spPr>
          <a:xfrm>
            <a:off x="4466681" y="2319814"/>
            <a:ext cx="1407914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Модульная архитектура · :4000</a:t>
            </a:r>
            <a:endParaRPr lang="en-US" sz="427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22957" y="2466935"/>
            <a:ext cx="574584" cy="17625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4011178" y="2473623"/>
            <a:ext cx="19575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427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85503" y="2466935"/>
            <a:ext cx="574584" cy="176252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4628555" y="2473623"/>
            <a:ext cx="286100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427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148053" y="2466935"/>
            <a:ext cx="574584" cy="176252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5317452" y="2473623"/>
            <a:ext cx="23339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427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599" y="2466935"/>
            <a:ext cx="755275" cy="176252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5803069" y="2473623"/>
            <a:ext cx="76795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427" dirty="0"/>
          </a:p>
        </p:txBody>
      </p:sp>
      <p:sp>
        <p:nvSpPr>
          <p:cNvPr id="42" name="Text 23"/>
          <p:cNvSpPr/>
          <p:nvPr/>
        </p:nvSpPr>
        <p:spPr>
          <a:xfrm>
            <a:off x="4477978" y="2908300"/>
            <a:ext cx="527027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ORM</a:t>
            </a:r>
            <a:endParaRPr lang="en-US" sz="427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78942" y="3095546"/>
            <a:ext cx="1327477" cy="350123"/>
          </a:xfrm>
          <a:prstGeom prst="rect">
            <a:avLst/>
          </a:prstGeom>
        </p:spPr>
      </p:pic>
      <p:sp>
        <p:nvSpPr>
          <p:cNvPr id="45" name="Text 24"/>
          <p:cNvSpPr/>
          <p:nvPr/>
        </p:nvSpPr>
        <p:spPr>
          <a:xfrm>
            <a:off x="4372570" y="3135670"/>
            <a:ext cx="737837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C0DD9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15</a:t>
            </a:r>
            <a:endParaRPr lang="en-US" sz="499" dirty="0"/>
          </a:p>
        </p:txBody>
      </p:sp>
      <p:sp>
        <p:nvSpPr>
          <p:cNvPr id="46" name="Text 25"/>
          <p:cNvSpPr/>
          <p:nvPr/>
        </p:nvSpPr>
        <p:spPr>
          <a:xfrm>
            <a:off x="4316104" y="3269416"/>
            <a:ext cx="85077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97C45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ORM · :5433</a:t>
            </a:r>
            <a:endParaRPr lang="en-US" sz="427" dirty="0"/>
          </a:p>
        </p:txBody>
      </p:sp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939944" y="2105819"/>
            <a:ext cx="1312418" cy="350123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7252395" y="2145943"/>
            <a:ext cx="685135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CECB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bcrypt</a:t>
            </a:r>
            <a:endParaRPr lang="en-US" sz="499" dirty="0"/>
          </a:p>
        </p:txBody>
      </p:sp>
      <p:sp>
        <p:nvSpPr>
          <p:cNvPr id="49" name="Text 27"/>
          <p:cNvSpPr/>
          <p:nvPr/>
        </p:nvSpPr>
        <p:spPr>
          <a:xfrm>
            <a:off x="7233572" y="2279690"/>
            <a:ext cx="722779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AFA9E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httpOnly cookies</a:t>
            </a:r>
            <a:endParaRPr lang="en-US" sz="427" dirty="0"/>
          </a:p>
        </p:txBody>
      </p:sp>
      <p:pic>
        <p:nvPicPr>
          <p:cNvPr id="50" name="Image 2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939944" y="2560558"/>
            <a:ext cx="1312418" cy="350123"/>
          </a:xfrm>
          <a:prstGeom prst="rect">
            <a:avLst/>
          </a:prstGeom>
        </p:spPr>
      </p:pic>
      <p:sp>
        <p:nvSpPr>
          <p:cNvPr id="51" name="Text 28"/>
          <p:cNvSpPr/>
          <p:nvPr/>
        </p:nvSpPr>
        <p:spPr>
          <a:xfrm>
            <a:off x="7263687" y="2600682"/>
            <a:ext cx="66254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B5D4F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Bot</a:t>
            </a:r>
            <a:endParaRPr lang="en-US" sz="499" dirty="0"/>
          </a:p>
        </p:txBody>
      </p:sp>
      <p:sp>
        <p:nvSpPr>
          <p:cNvPr id="52" name="Text 29"/>
          <p:cNvSpPr/>
          <p:nvPr/>
        </p:nvSpPr>
        <p:spPr>
          <a:xfrm>
            <a:off x="7015232" y="2734429"/>
            <a:ext cx="1159459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85B7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Widget · BOT_TOKEN</a:t>
            </a:r>
            <a:endParaRPr lang="en-US" sz="427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939944" y="3015297"/>
            <a:ext cx="1312418" cy="350123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7150754" y="3055422"/>
            <a:ext cx="888416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F5C4B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OAuth 2.0</a:t>
            </a:r>
            <a:endParaRPr lang="en-US" sz="499" dirty="0"/>
          </a:p>
        </p:txBody>
      </p:sp>
      <p:sp>
        <p:nvSpPr>
          <p:cNvPr id="55" name="Text 31"/>
          <p:cNvSpPr/>
          <p:nvPr/>
        </p:nvSpPr>
        <p:spPr>
          <a:xfrm>
            <a:off x="7154517" y="3189168"/>
            <a:ext cx="880887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F0997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CLIENT_ID / SECRET</a:t>
            </a:r>
            <a:endParaRPr lang="en-US" sz="427" dirty="0"/>
          </a:p>
        </p:txBody>
      </p:sp>
      <p:pic>
        <p:nvPicPr>
          <p:cNvPr id="56" name="Image 22" descr="preencoded.png"/>
          <p:cNvPicPr>
            <a:picLocks noChangeAspect="1"/>
          </p:cNvPicPr>
          <p:nvPr/>
        </p:nvPicPr>
        <p:blipFill>
          <a:blip r:embed="rId16"/>
          <a:srcRect b="99219"/>
          <a:stretch/>
        </p:blipFill>
        <p:spPr>
          <a:xfrm>
            <a:off x="6638785" y="2239566"/>
            <a:ext cx="286099" cy="7144"/>
          </a:xfrm>
          <a:prstGeom prst="rect">
            <a:avLst/>
          </a:prstGeom>
        </p:spPr>
      </p:pic>
      <p:pic>
        <p:nvPicPr>
          <p:cNvPr id="57" name="Image 2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638785" y="2607369"/>
            <a:ext cx="288461" cy="107052"/>
          </a:xfrm>
          <a:prstGeom prst="rect">
            <a:avLst/>
          </a:prstGeom>
        </p:spPr>
      </p:pic>
      <p:pic>
        <p:nvPicPr>
          <p:cNvPr id="58" name="Image 2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638785" y="2674243"/>
            <a:ext cx="292071" cy="438605"/>
          </a:xfrm>
          <a:prstGeom prst="rect">
            <a:avLst/>
          </a:prstGeom>
        </p:spPr>
      </p:pic>
      <p:pic>
        <p:nvPicPr>
          <p:cNvPr id="59" name="Image 2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702495" y="3777654"/>
            <a:ext cx="1207015" cy="350123"/>
          </a:xfrm>
          <a:prstGeom prst="rect">
            <a:avLst/>
          </a:prstGeom>
        </p:spPr>
      </p:pic>
      <p:sp>
        <p:nvSpPr>
          <p:cNvPr id="60" name="Text 32"/>
          <p:cNvSpPr/>
          <p:nvPr/>
        </p:nvSpPr>
        <p:spPr>
          <a:xfrm>
            <a:off x="3973539" y="3817779"/>
            <a:ext cx="66254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FAC77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/ Email</a:t>
            </a:r>
            <a:endParaRPr lang="en-US" sz="499" dirty="0"/>
          </a:p>
        </p:txBody>
      </p:sp>
      <p:sp>
        <p:nvSpPr>
          <p:cNvPr id="61" name="Text 33"/>
          <p:cNvSpPr/>
          <p:nvPr/>
        </p:nvSpPr>
        <p:spPr>
          <a:xfrm>
            <a:off x="3947187" y="3951525"/>
            <a:ext cx="715250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EF9F2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· порт 587</a:t>
            </a:r>
            <a:endParaRPr lang="en-US" sz="427" dirty="0"/>
          </a:p>
        </p:txBody>
      </p:sp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057705" y="3777654"/>
            <a:ext cx="1207015" cy="350123"/>
          </a:xfrm>
          <a:prstGeom prst="rect">
            <a:avLst/>
          </a:prstGeom>
        </p:spPr>
      </p:pic>
      <p:sp>
        <p:nvSpPr>
          <p:cNvPr id="63" name="Text 34"/>
          <p:cNvSpPr/>
          <p:nvPr/>
        </p:nvSpPr>
        <p:spPr>
          <a:xfrm>
            <a:off x="5230871" y="3817779"/>
            <a:ext cx="858301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D3D1C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</a:t>
            </a:r>
            <a:endParaRPr lang="en-US" sz="499" dirty="0"/>
          </a:p>
        </p:txBody>
      </p:sp>
      <p:sp>
        <p:nvSpPr>
          <p:cNvPr id="64" name="Text 35"/>
          <p:cNvSpPr/>
          <p:nvPr/>
        </p:nvSpPr>
        <p:spPr>
          <a:xfrm>
            <a:off x="5230871" y="3951525"/>
            <a:ext cx="858301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B4B2A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сервиса + pgdata</a:t>
            </a:r>
            <a:endParaRPr lang="en-US" sz="427" dirty="0"/>
          </a:p>
        </p:txBody>
      </p:sp>
      <p:pic>
        <p:nvPicPr>
          <p:cNvPr id="65" name="Image 2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412916" y="3777654"/>
            <a:ext cx="1207015" cy="350123"/>
          </a:xfrm>
          <a:prstGeom prst="rect">
            <a:avLst/>
          </a:prstGeom>
        </p:spPr>
      </p:pic>
      <p:sp>
        <p:nvSpPr>
          <p:cNvPr id="66" name="Text 36"/>
          <p:cNvSpPr/>
          <p:nvPr/>
        </p:nvSpPr>
        <p:spPr>
          <a:xfrm>
            <a:off x="6868418" y="3817779"/>
            <a:ext cx="293629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dirty="0">
                <a:solidFill>
                  <a:srgbClr val="D3D1C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499" dirty="0"/>
          </a:p>
        </p:txBody>
      </p:sp>
      <p:sp>
        <p:nvSpPr>
          <p:cNvPr id="67" name="Text 37"/>
          <p:cNvSpPr/>
          <p:nvPr/>
        </p:nvSpPr>
        <p:spPr>
          <a:xfrm>
            <a:off x="6529615" y="3951525"/>
            <a:ext cx="97123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dirty="0">
                <a:solidFill>
                  <a:srgbClr val="B4B2A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→ :4000 / :3000</a:t>
            </a:r>
            <a:endParaRPr lang="en-US" sz="427" dirty="0"/>
          </a:p>
        </p:txBody>
      </p:sp>
      <p:pic>
        <p:nvPicPr>
          <p:cNvPr id="68" name="Image 2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304807" y="2707680"/>
            <a:ext cx="270444" cy="1058329"/>
          </a:xfrm>
          <a:prstGeom prst="rect">
            <a:avLst/>
          </a:prstGeom>
        </p:spPr>
      </p:pic>
      <p:pic>
        <p:nvPicPr>
          <p:cNvPr id="69" name="Image 2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3777783" y="4513263"/>
            <a:ext cx="92729" cy="82629"/>
          </a:xfrm>
          <a:prstGeom prst="rect">
            <a:avLst/>
          </a:prstGeom>
        </p:spPr>
      </p:pic>
      <p:sp>
        <p:nvSpPr>
          <p:cNvPr id="70" name="Text 38"/>
          <p:cNvSpPr/>
          <p:nvPr/>
        </p:nvSpPr>
        <p:spPr>
          <a:xfrm>
            <a:off x="3913305" y="4493201"/>
            <a:ext cx="39150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427" dirty="0"/>
          </a:p>
        </p:txBody>
      </p:sp>
      <p:pic>
        <p:nvPicPr>
          <p:cNvPr id="71" name="Image 3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4455389" y="4513263"/>
            <a:ext cx="92729" cy="82629"/>
          </a:xfrm>
          <a:prstGeom prst="rect">
            <a:avLst/>
          </a:prstGeom>
        </p:spPr>
      </p:pic>
      <p:sp>
        <p:nvSpPr>
          <p:cNvPr id="72" name="Text 39"/>
          <p:cNvSpPr/>
          <p:nvPr/>
        </p:nvSpPr>
        <p:spPr>
          <a:xfrm>
            <a:off x="4590910" y="4493201"/>
            <a:ext cx="368919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427" dirty="0"/>
          </a:p>
        </p:txBody>
      </p:sp>
      <p:pic>
        <p:nvPicPr>
          <p:cNvPr id="73" name="Image 31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5132994" y="4513263"/>
            <a:ext cx="92729" cy="82629"/>
          </a:xfrm>
          <a:prstGeom prst="rect">
            <a:avLst/>
          </a:prstGeom>
        </p:spPr>
      </p:pic>
      <p:sp>
        <p:nvSpPr>
          <p:cNvPr id="74" name="Text 40"/>
          <p:cNvSpPr/>
          <p:nvPr/>
        </p:nvSpPr>
        <p:spPr>
          <a:xfrm>
            <a:off x="5268516" y="4493201"/>
            <a:ext cx="564671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427" dirty="0"/>
          </a:p>
        </p:txBody>
      </p:sp>
      <p:pic>
        <p:nvPicPr>
          <p:cNvPr id="75" name="Image 3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5961180" y="4513263"/>
            <a:ext cx="92729" cy="82629"/>
          </a:xfrm>
          <a:prstGeom prst="rect">
            <a:avLst/>
          </a:prstGeom>
        </p:spPr>
      </p:pic>
      <p:sp>
        <p:nvSpPr>
          <p:cNvPr id="76" name="Text 41"/>
          <p:cNvSpPr/>
          <p:nvPr/>
        </p:nvSpPr>
        <p:spPr>
          <a:xfrm>
            <a:off x="6096702" y="4493201"/>
            <a:ext cx="20328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427" dirty="0"/>
          </a:p>
        </p:txBody>
      </p:sp>
      <p:pic>
        <p:nvPicPr>
          <p:cNvPr id="77" name="Image 3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6450560" y="4513263"/>
            <a:ext cx="92729" cy="82629"/>
          </a:xfrm>
          <a:prstGeom prst="rect">
            <a:avLst/>
          </a:prstGeom>
        </p:spPr>
      </p:pic>
      <p:sp>
        <p:nvSpPr>
          <p:cNvPr id="78" name="Text 42"/>
          <p:cNvSpPr/>
          <p:nvPr/>
        </p:nvSpPr>
        <p:spPr>
          <a:xfrm>
            <a:off x="6586082" y="4493201"/>
            <a:ext cx="80559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Внешние сервисы</a:t>
            </a:r>
            <a:endParaRPr lang="en-US" sz="427" dirty="0"/>
          </a:p>
        </p:txBody>
      </p:sp>
      <p:pic>
        <p:nvPicPr>
          <p:cNvPr id="79" name="Image 34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7466967" y="4513263"/>
            <a:ext cx="92729" cy="82629"/>
          </a:xfrm>
          <a:prstGeom prst="rect">
            <a:avLst/>
          </a:prstGeom>
        </p:spPr>
      </p:pic>
      <p:sp>
        <p:nvSpPr>
          <p:cNvPr id="80" name="Text 43"/>
          <p:cNvSpPr/>
          <p:nvPr/>
        </p:nvSpPr>
        <p:spPr>
          <a:xfrm>
            <a:off x="7602489" y="4493201"/>
            <a:ext cx="293629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427" dirty="0">
                <a:solidFill>
                  <a:srgbClr val="C2C0B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Инфра</a:t>
            </a:r>
            <a:endParaRPr lang="en-US" sz="427" dirty="0"/>
          </a:p>
        </p:txBody>
      </p:sp>
      <p:sp>
        <p:nvSpPr>
          <p:cNvPr id="81" name="Text 44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82" name="Text 45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83" name="Text 46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sp>
        <p:nvSpPr>
          <p:cNvPr id="3" name="Text 1"/>
          <p:cNvSpPr/>
          <p:nvPr/>
        </p:nvSpPr>
        <p:spPr>
          <a:xfrm>
            <a:off x="3957638" y="1385888"/>
            <a:ext cx="4886325" cy="366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7431"/>
              </a:lnSpc>
              <a:buNone/>
            </a:pPr>
            <a:r>
              <a:rPr lang="en-US" sz="24938" kern="0" spc="-1247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4938" dirty="0"/>
          </a:p>
        </p:txBody>
      </p:sp>
      <p:sp>
        <p:nvSpPr>
          <p:cNvPr id="4" name="Text 2"/>
          <p:cNvSpPr/>
          <p:nvPr/>
        </p:nvSpPr>
        <p:spPr>
          <a:xfrm>
            <a:off x="290513" y="471488"/>
            <a:ext cx="59102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78"/>
              </a:lnSpc>
              <a:buNone/>
            </a:pPr>
            <a:r>
              <a:rPr lang="en-US" sz="5344" b="1" dirty="0" err="1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Дальнейшее</a:t>
            </a:r>
            <a:r>
              <a:rPr lang="en-US" sz="5344" b="1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5344" b="1" dirty="0" err="1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развитие</a:t>
            </a:r>
            <a:endParaRPr lang="en-US" sz="5344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20830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500" y="2957513"/>
            <a:ext cx="2366963" cy="1042988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90500" y="2957513"/>
            <a:ext cx="2366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b="1" kern="0" spc="100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ИДЕЯ</a:t>
            </a:r>
            <a:r>
              <a:rPr lang="en-US" sz="1425" b="1" kern="0" spc="10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425" b="1" kern="0" spc="100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US" sz="1425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0500" y="3357563"/>
            <a:ext cx="23669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kern="0" spc="-24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Добавить возможность входа через большее количество  соц. сетей</a:t>
            </a:r>
            <a:endParaRPr lang="en-US" sz="106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71800" y="2957513"/>
            <a:ext cx="2366963" cy="82867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971800" y="2957513"/>
            <a:ext cx="2366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b="1" kern="0" spc="100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ИДЕЯ 2</a:t>
            </a:r>
            <a:endParaRPr lang="en-US" sz="1425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71800" y="3357563"/>
            <a:ext cx="2366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kern="0" spc="-24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Реализовать парсинг событий с внешних сайтов университета</a:t>
            </a:r>
            <a:endParaRPr lang="en-US" sz="106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53100" y="2957513"/>
            <a:ext cx="2366963" cy="1042988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753100" y="2957513"/>
            <a:ext cx="2366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b="1" kern="0" spc="100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ИДЕЯ 3</a:t>
            </a:r>
            <a:endParaRPr lang="en-US" sz="1425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53100" y="3357563"/>
            <a:ext cx="23669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kern="0" spc="-24" dirty="0">
                <a:solidFill>
                  <a:srgbClr val="000000">
                    <a:alpha val="99000"/>
                  </a:srgb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Разработать систему записи вебинаров и  их размещения у нас на сайте</a:t>
            </a:r>
            <a:endParaRPr lang="en-US" sz="1069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1800" y="328613"/>
            <a:ext cx="2176463" cy="2176463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0500" y="323850"/>
            <a:ext cx="2176463" cy="2176463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53100" y="323850"/>
            <a:ext cx="2176463" cy="21764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16" name="Text 11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17" name="Text 12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1000125"/>
            <a:ext cx="472440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78"/>
              </a:lnSpc>
              <a:buNone/>
            </a:pPr>
            <a:r>
              <a:rPr lang="en-US" sz="5344" b="1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you!</a:t>
            </a:r>
            <a:endParaRPr lang="en-US" sz="5344" dirty="0"/>
          </a:p>
        </p:txBody>
      </p:sp>
      <p:sp>
        <p:nvSpPr>
          <p:cNvPr id="4" name="Text 2"/>
          <p:cNvSpPr/>
          <p:nvPr/>
        </p:nvSpPr>
        <p:spPr>
          <a:xfrm>
            <a:off x="90488" y="76200"/>
            <a:ext cx="709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27.03. 2026</a:t>
            </a:r>
            <a:endParaRPr lang="en-US" sz="784" dirty="0"/>
          </a:p>
        </p:txBody>
      </p:sp>
      <p:sp>
        <p:nvSpPr>
          <p:cNvPr id="5" name="Text 3"/>
          <p:cNvSpPr/>
          <p:nvPr/>
        </p:nvSpPr>
        <p:spPr>
          <a:xfrm>
            <a:off x="1300163" y="76200"/>
            <a:ext cx="56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SKILLMAP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8753475" y="76200"/>
            <a:ext cx="300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2"/>
              </a:lnSpc>
              <a:buNone/>
            </a:pPr>
            <a:r>
              <a:rPr lang="en-US" sz="784" b="1" kern="0" spc="55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RYNE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8320088" y="4795838"/>
            <a:ext cx="633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4"/>
              </a:lnSpc>
              <a:buNone/>
            </a:pPr>
            <a:r>
              <a:rPr lang="en-US" sz="1283" kern="0" spc="-2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Ryne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226</Words>
  <Application>Microsoft Office PowerPoint</Application>
  <PresentationFormat>Экран (16:9)</PresentationFormat>
  <Paragraphs>96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Inter</vt:lpstr>
      <vt:lpstr>Cascadia Code</vt:lpstr>
      <vt:lpstr>Plus Jakarta Sans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Егор Крокошев</cp:lastModifiedBy>
  <cp:revision>2</cp:revision>
  <dcterms:created xsi:type="dcterms:W3CDTF">2026-03-27T10:22:40Z</dcterms:created>
  <dcterms:modified xsi:type="dcterms:W3CDTF">2026-03-27T11:08:38Z</dcterms:modified>
</cp:coreProperties>
</file>